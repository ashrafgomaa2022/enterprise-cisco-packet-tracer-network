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38" y="1643118"/>
            <a:ext cx="4071938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تحليل وتصميم شبكة Cisco Packet Tracer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643438" y="2974646"/>
            <a:ext cx="407193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يقدم هذا العرض التقديمي تحليلاً شاملاً لتصميم شبكة Cisco Packet Tracer، مع التركيز على هيكلها، تقسيم الشبكات الافتراضية (VLANs)، والأجهزة المستخدمة لضمان بيئة عمل آمنة وفعالة.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541599"/>
            <a:ext cx="4143375" cy="23459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61672" y="4736306"/>
            <a:ext cx="10537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53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إعداد: Manus AI |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تصميم الشبكة الهرمي: الكفاءة والأمان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906" y="1328738"/>
            <a:ext cx="321469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92950" y="1721644"/>
            <a:ext cx="17224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طبقة النواة (Core)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992950" y="2003822"/>
            <a:ext cx="1722425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المسؤولة عن التوجيه عالي السرعة بين طبقات التوزيع وتوفير الاتصال بالشبكات الخارجية (الإنترنت). تتميز بالموثوقية العالية.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753" y="1328738"/>
            <a:ext cx="289322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27650" y="1721644"/>
            <a:ext cx="172242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طبقة التوزيع (Distribution)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5127650" y="2214563"/>
            <a:ext cx="1722425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تعمل كحد فاصل، وتوفر التوجيه بين الشبكات الافتراضية (Inter-VLAN Routing)، وتطبيق سياسات الأمان وتجميع حركة المرور.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306" y="1328738"/>
            <a:ext cx="321469" cy="257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62350" y="1721644"/>
            <a:ext cx="172242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طبقة الوصول (Access)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3262350" y="2214563"/>
            <a:ext cx="17224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تربط الأجهزة النهائية بالشبكة، وتوفر الوصول إلى الموارد المحلية والخارجية مع تطبيق سياسات الأمان الأساسية.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19" y="1160859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مفهوم الشبكات الافتراضية (VLANs) لتعزيز الأمان والأداء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121443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875" y="1160859"/>
            <a:ext cx="36861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تحسين الأمان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714875" y="1389459"/>
            <a:ext cx="368617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عزل حركة المرور بين الأقسام المختلفة، مما يحد من انتشار التهديدات الأمنية داخل الشبكة.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3" y="1981609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4875" y="1928031"/>
            <a:ext cx="3643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إدارة أسهل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714875" y="2156631"/>
            <a:ext cx="3643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تبسيط إدارة الشبكة وتكوينها منطقياً بدلاً من الاعتماد على المواقع الفيزيائية للأجهزة.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494" y="2748781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14875" y="2695203"/>
            <a:ext cx="3664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تقليل نطاق البث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714875" y="2923803"/>
            <a:ext cx="36647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تحسين أداء الشبكة عن طريق تقليل حجم نطاقات البث (Broadcast Domains) والازدحام.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160859"/>
            <a:ext cx="3571875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50 (غرفة الخوادم) و VLAN 99 (الإدارة)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107906" y="1232297"/>
            <a:ext cx="2607469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534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50: Server Room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788" y="1666280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50944" y="1643063"/>
            <a:ext cx="964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الغرض الأساسي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07906" y="1875234"/>
            <a:ext cx="2607469" cy="3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استضافة الخوادم الحيوية مثل خوادم الويب، قواعد البيانات، وخوادم الملفات لضمان توفر الخدمات.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641" y="2429880"/>
            <a:ext cx="16073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83091" y="2406662"/>
            <a:ext cx="900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سياسة الوصول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07906" y="2638834"/>
            <a:ext cx="2607469" cy="58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تطبيق قواعد صارمة للتحكم في الوصول (ACLs) لضمان أن الموظفين المصرح لهم فقط يمكنهم الوصول للموارد.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286125" y="1232297"/>
            <a:ext cx="2607469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534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99: Management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006" y="1666280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334" y="1643063"/>
            <a:ext cx="7322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إدارة الشبكة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3286125" y="1875234"/>
            <a:ext cx="2607469" cy="3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مخصصة للوصول عن بعد لأجهزة الشبكة (المحولات والموجهات) لإجراء عمليات التكوين والصيانة.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294" y="2429880"/>
            <a:ext cx="114300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11316" y="2406662"/>
            <a:ext cx="8965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الأمان المنطقي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3286125" y="2638834"/>
            <a:ext cx="2607469" cy="58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عزل حركة مرور الإدارة عن حركة مرور المستخدمين العاديين لمنع أي محاولات اختراق أو وصول غير مصرح به.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8" y="1160859"/>
            <a:ext cx="2714625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10 (الموارد البشرية) و VLAN 20 (المحاسبة)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344" y="1178719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2878" y="1169789"/>
            <a:ext cx="247530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10: الموارد البشرية (HR)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14875" y="151090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مخصصة لقسم الموارد البشرية، وتضم أجهزة الكمبيوتر والطابعات الخاصة بالموظفين. يتم عزل هذه الشبكة لحماية البيانات الحساسة المتعلقة بالموظفين وسجلاتهم الشخصية من الوصول غير المصرح به.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356" y="2500313"/>
            <a:ext cx="150019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75747" y="2491383"/>
            <a:ext cx="248245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20: قسم المحاسبة (AC)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714875" y="2832497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تضم أجهزة الكمبيوتر التي تتعامل مع البيانات المالية الحساسة والأنظمة المحاسبية. يضمن هذا التقسيم أمان المعاملات المالية ومنع التداخل مع حركة مرور البيانات في الأقسام الأخرى.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232297"/>
            <a:ext cx="3929063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30 (تكنولوجيا المعلومات) و VLAN 40 (المبيعات)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1325166"/>
            <a:ext cx="2857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97141" y="1319808"/>
            <a:ext cx="26253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30: تكنولوجيا المعلومات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714875" y="1721644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مخصصة لفريق الدعم الفني وإدارة الأنظمة، وتتميز بـ: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714875" y="2021681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صلاحيات وصول واسعة لإدارة وصيانة الشبكة.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14875" y="2321719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أجهزة كمبيوتر ذات أداء عالٍ للتعامل مع المهام التقنية.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714875" y="2621756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عزل حركة المرور لضمان أمن أدوات الإدارة.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132516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53816" y="1319808"/>
            <a:ext cx="213955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40: قسم المبيعات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28625" y="1721644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مخصصة لفريق المبيعات وتدعم تقنيات الاتصال الموحد: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28625" y="2021681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دمج هواتف IP (IP Phones) مع أجهزة الكمبيوتر.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28625" y="2321719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تطبيق سياسات جودة الخدمة (QoS) لضمان وضوح الصوت.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28625" y="2621756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توفير اتصال مستقر للتواصل مع العملاء.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3493294"/>
            <a:ext cx="5715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60 (كاميرات المراقبة) و VLAN 70 (شبكة الضيوف)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347" y="1178719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72113" y="1169789"/>
            <a:ext cx="291107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60: كاميرات المراقبة (CCTV)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14875" y="1510903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مخصصة لـ 6 كاميرات IP. يتم عزل حركة مرور الفيديو لضمان عدم تأثر أداء الشبكة الرئيسية ولتوفير بيئة مراقبة آمنة ومستقرة.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344" y="2271713"/>
            <a:ext cx="250031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6369" y="2262783"/>
            <a:ext cx="312181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VLAN 70: شبكة الضيوف (Guest WiFi)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714875" y="2603897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توفر وصولاً لاسلكياً للضيوف عبر نقطة وصول (Access Point). يتم عزلها تماماً عن الموارد الداخلية للمؤسسة لحماية البيانات الحساسة.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160859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مكونات الشبكة الأساسية: الراوترات والمحولات والأجهزة النهائية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1250156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29425" y="1241227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أجهزة التوجيه (Routers)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060300" y="1514475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الربط مع شبكة الإنترنت الخارجية (Cloud).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060300" y="1728788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توجيه البيانات بين الشبكات المختلفة.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060300" y="1943100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توفير بوابة الخروج الافتراضية للـ VLANs.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975" y="1250156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52894" y="1241227"/>
            <a:ext cx="16859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أجهزة التبديل (Switches)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262350" y="1514475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محولات التوزيع (Multilayer 3560).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262350" y="1728788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محولات الوصول (2960-24TT).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262350" y="1943100"/>
            <a:ext cx="2369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إدارة الـ VLANs وتوزيع المنافذ.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063" y="2928938"/>
            <a:ext cx="214313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68653" y="2920008"/>
            <a:ext cx="202525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الأجهزة النهائية (End Devices)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845987" y="3193256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أجهزة الكمبيوتر المكتبية (PCs).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3262350" y="3193256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أجهزة اللابتوب (Laptops).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845987" y="3407569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هواتف IP (IP Phones).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3262350" y="3407569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كاميرات المراقبة (IP Cameras).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845987" y="3621881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الطابعات الشبكية (Printers).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262350" y="3621881"/>
            <a:ext cx="2583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الخوادم المركزية (Servers).</a:t>
            </a:r>
            <a:endParaRPr lang="en-US" sz="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19" y="1160859"/>
            <a:ext cx="2714625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8286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الخلاصة: شبكة مصممة بكفاءة وأمان مرن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75" y="1710928"/>
            <a:ext cx="42862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75375" y="2235994"/>
            <a:ext cx="1635082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أمان معزز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675375" y="2553891"/>
            <a:ext cx="163508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خلال عزل حركة المرور بين الأقسام المختلفة وتقليل نطاقات البث عبر الـ VLANs.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606" y="1710928"/>
            <a:ext cx="342900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54487" y="2235994"/>
            <a:ext cx="1635137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أداء مثالي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754487" y="2553891"/>
            <a:ext cx="163513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بفضل التصميم الهرمي الذي يضمن توجيهاً سريعاً للبيانات وتقليل الازدحام في الشبكة.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150" y="1710928"/>
            <a:ext cx="300038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33656" y="2235994"/>
            <a:ext cx="1635082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مرونة عالية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1833656" y="2553891"/>
            <a:ext cx="163508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هيكل يسمح بإضافة أقسام أو أجهزة جديدة بسهولة دون التأثير على استقرار الشبكة ككل.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1848445" y="4091136"/>
            <a:ext cx="5447109" cy="382191"/>
          </a:xfrm>
          <a:prstGeom prst="rect">
            <a:avLst/>
          </a:prstGeom>
          <a:solidFill>
            <a:srgbClr val="D9534F">
              <a:alpha val="10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1848445" y="4091136"/>
            <a:ext cx="5447109" cy="14288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5" name="Text 9"/>
          <p:cNvSpPr/>
          <p:nvPr/>
        </p:nvSpPr>
        <p:spPr>
          <a:xfrm>
            <a:off x="1848445" y="4091136"/>
            <a:ext cx="5447109" cy="382191"/>
          </a:xfrm>
          <a:prstGeom prst="rect">
            <a:avLst/>
          </a:prstGeom>
          <a:noFill/>
          <a:ln/>
        </p:spPr>
        <p:txBody>
          <a:bodyPr wrap="square" lIns="340233" tIns="170053" rIns="340233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22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هذا التصميم يوفر أساساً متيناً لبيئة عمل رقمية مستقرة وموثوقة.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429125"/>
            <a:ext cx="857250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2026-08-04T14:23:41Z</dcterms:created>
  <dcterms:modified xsi:type="dcterms:W3CDTF">2026-08-04T14:23:41Z</dcterms:modified>
</cp:coreProperties>
</file>